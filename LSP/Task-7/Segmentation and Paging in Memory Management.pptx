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3" autoAdjust="0"/>
    <p:restoredTop sz="94660"/>
  </p:normalViewPr>
  <p:slideViewPr>
    <p:cSldViewPr snapToGrid="0" snapToObjects="1">
      <p:cViewPr>
        <p:scale>
          <a:sx n="99" d="100"/>
          <a:sy n="99" d="100"/>
        </p:scale>
        <p:origin x="931" y="-1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Segmentation and Paging in Memory Management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Concepts, Address Translation, and Examples</a:t>
            </a:r>
          </a:p>
          <a:p>
            <a:r>
              <a:rPr dirty="0"/>
              <a:t>Presented by: </a:t>
            </a:r>
            <a:r>
              <a:rPr lang="en-IN"/>
              <a:t>Alok Kumar Tarini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Memory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defRPr sz="2000">
                <a:solidFill>
                  <a:srgbClr val="000000"/>
                </a:solidFill>
                <a:latin typeface="Calibri"/>
              </a:defRPr>
            </a:pPr>
            <a:r>
              <a:t>Memory management allows efficient allocation, protection, and sharing of memory resources.</a:t>
            </a:r>
          </a:p>
          <a:p>
            <a:pPr algn="l">
              <a:defRPr sz="2000">
                <a:solidFill>
                  <a:srgbClr val="000000"/>
                </a:solidFill>
                <a:latin typeface="Calibri"/>
              </a:defRPr>
            </a:pPr>
            <a:r>
              <a:t>It supports multitasking and process isolation.</a:t>
            </a:r>
          </a:p>
          <a:p>
            <a:pPr algn="l">
              <a:defRPr sz="2000">
                <a:solidFill>
                  <a:srgbClr val="000000"/>
                </a:solidFill>
                <a:latin typeface="Calibri"/>
              </a:defRPr>
            </a:pPr>
            <a:r>
              <a:t>Key techniques include:</a:t>
            </a:r>
          </a:p>
          <a:p>
            <a:pPr algn="l">
              <a:defRPr sz="2000">
                <a:solidFill>
                  <a:srgbClr val="000000"/>
                </a:solidFill>
                <a:latin typeface="Calibri"/>
              </a:defRPr>
            </a:pPr>
            <a:r>
              <a:t>• Contiguous Allocation</a:t>
            </a:r>
          </a:p>
          <a:p>
            <a:pPr algn="l">
              <a:defRPr sz="2000">
                <a:solidFill>
                  <a:srgbClr val="000000"/>
                </a:solidFill>
                <a:latin typeface="Calibri"/>
              </a:defRPr>
            </a:pPr>
            <a:r>
              <a:t>• Paging</a:t>
            </a:r>
          </a:p>
          <a:p>
            <a:pPr algn="l">
              <a:defRPr sz="2000">
                <a:solidFill>
                  <a:srgbClr val="000000"/>
                </a:solidFill>
                <a:latin typeface="Calibri"/>
              </a:defRPr>
            </a:pPr>
            <a:r>
              <a:t>• Segmentation</a:t>
            </a:r>
          </a:p>
          <a:p>
            <a:pPr algn="l">
              <a:defRPr sz="2000">
                <a:solidFill>
                  <a:srgbClr val="000000"/>
                </a:solidFill>
                <a:latin typeface="Calibri"/>
              </a:defRPr>
            </a:pPr>
            <a:r>
              <a:t>• Combined Segmentation and Paging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Paging –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defRPr sz="2000">
                <a:solidFill>
                  <a:srgbClr val="000000"/>
                </a:solidFill>
                <a:latin typeface="Calibri"/>
              </a:defRPr>
            </a:pPr>
            <a:r>
              <a:t>Paging divides logical memory into fixed-size pages.</a:t>
            </a:r>
          </a:p>
          <a:p>
            <a:pPr algn="l">
              <a:defRPr sz="2000">
                <a:solidFill>
                  <a:srgbClr val="000000"/>
                </a:solidFill>
                <a:latin typeface="Calibri"/>
              </a:defRPr>
            </a:pPr>
            <a:r>
              <a:t>Physical memory is divided into fixed-size frames.</a:t>
            </a:r>
          </a:p>
          <a:p>
            <a:pPr algn="l">
              <a:defRPr sz="2000">
                <a:solidFill>
                  <a:srgbClr val="000000"/>
                </a:solidFill>
                <a:latin typeface="Calibri"/>
              </a:defRPr>
            </a:pPr>
            <a:r>
              <a:t>Logical address = Page number + Offset.</a:t>
            </a:r>
          </a:p>
          <a:p>
            <a:pPr algn="l">
              <a:defRPr sz="2000">
                <a:solidFill>
                  <a:srgbClr val="000000"/>
                </a:solidFill>
                <a:latin typeface="Calibri"/>
              </a:defRPr>
            </a:pPr>
            <a:r>
              <a:t>The page table maps pages to frames.</a:t>
            </a:r>
          </a:p>
          <a:p>
            <a:pPr algn="l">
              <a:defRPr sz="2000">
                <a:solidFill>
                  <a:srgbClr val="000000"/>
                </a:solidFill>
                <a:latin typeface="Calibri"/>
              </a:defRPr>
            </a:pPr>
            <a:r>
              <a:t>Eliminates external fragmentation.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Paging – Address Translation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defRPr sz="2000">
                <a:solidFill>
                  <a:srgbClr val="000000"/>
                </a:solidFill>
                <a:latin typeface="Calibri"/>
              </a:defRPr>
            </a:pPr>
            <a:r>
              <a:t>Page size = 1 KB (1024 bytes)</a:t>
            </a:r>
          </a:p>
          <a:p>
            <a:pPr algn="l">
              <a:defRPr sz="2000">
                <a:solidFill>
                  <a:srgbClr val="000000"/>
                </a:solidFill>
                <a:latin typeface="Calibri"/>
              </a:defRPr>
            </a:pPr>
            <a:r>
              <a:t>Logical address = 2050</a:t>
            </a:r>
          </a:p>
          <a:p>
            <a:pPr algn="l">
              <a:defRPr sz="2000">
                <a:solidFill>
                  <a:srgbClr val="000000"/>
                </a:solidFill>
                <a:latin typeface="Calibri"/>
              </a:defRPr>
            </a:pPr>
            <a:r>
              <a:t>Page number = 2050 / 1024 = 2</a:t>
            </a:r>
          </a:p>
          <a:p>
            <a:pPr algn="l">
              <a:defRPr sz="2000">
                <a:solidFill>
                  <a:srgbClr val="000000"/>
                </a:solidFill>
                <a:latin typeface="Calibri"/>
              </a:defRPr>
            </a:pPr>
            <a:r>
              <a:t>Offset = 2050 % 1024 = 2</a:t>
            </a:r>
          </a:p>
          <a:p>
            <a:pPr algn="l">
              <a:defRPr sz="2000">
                <a:solidFill>
                  <a:srgbClr val="000000"/>
                </a:solidFill>
                <a:latin typeface="Calibri"/>
              </a:defRPr>
            </a:pPr>
            <a:r>
              <a:t>Page Table[2] = Frame 5</a:t>
            </a:r>
          </a:p>
          <a:p>
            <a:pPr algn="l">
              <a:defRPr sz="2000">
                <a:solidFill>
                  <a:srgbClr val="000000"/>
                </a:solidFill>
                <a:latin typeface="Calibri"/>
              </a:defRPr>
            </a:pPr>
            <a:r>
              <a:t>Physical address = 5 * 1024 + 2 = 5122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Segmentation –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defRPr sz="2000">
                <a:solidFill>
                  <a:srgbClr val="000000"/>
                </a:solidFill>
                <a:latin typeface="Calibri"/>
              </a:defRPr>
            </a:pPr>
            <a:r>
              <a:t>Segmentation divides the program into logical segments (e.g., code, stack, heap).</a:t>
            </a:r>
          </a:p>
          <a:p>
            <a:pPr algn="l">
              <a:defRPr sz="2000">
                <a:solidFill>
                  <a:srgbClr val="000000"/>
                </a:solidFill>
                <a:latin typeface="Calibri"/>
              </a:defRPr>
            </a:pPr>
            <a:r>
              <a:t>Each segment has a base and a limit.</a:t>
            </a:r>
          </a:p>
          <a:p>
            <a:pPr algn="l">
              <a:defRPr sz="2000">
                <a:solidFill>
                  <a:srgbClr val="000000"/>
                </a:solidFill>
                <a:latin typeface="Calibri"/>
              </a:defRPr>
            </a:pPr>
            <a:r>
              <a:t>Logical address = Segment number + Offset.</a:t>
            </a:r>
          </a:p>
          <a:p>
            <a:pPr algn="l">
              <a:defRPr sz="2000">
                <a:solidFill>
                  <a:srgbClr val="000000"/>
                </a:solidFill>
                <a:latin typeface="Calibri"/>
              </a:defRPr>
            </a:pPr>
            <a:r>
              <a:t>The segment table maps segments to physical memory.</a:t>
            </a:r>
          </a:p>
          <a:p>
            <a:pPr algn="l">
              <a:defRPr sz="2000">
                <a:solidFill>
                  <a:srgbClr val="000000"/>
                </a:solidFill>
                <a:latin typeface="Calibri"/>
              </a:defRPr>
            </a:pPr>
            <a:r>
              <a:t>Supports program modularity and protection.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Segmentation – Address Translation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defRPr sz="2000">
                <a:solidFill>
                  <a:srgbClr val="000000"/>
                </a:solidFill>
                <a:latin typeface="Calibri"/>
              </a:defRPr>
            </a:pPr>
            <a:r>
              <a:t>Segment 1: Base = 4000, Limit = 1000</a:t>
            </a:r>
          </a:p>
          <a:p>
            <a:pPr algn="l">
              <a:defRPr sz="2000">
                <a:solidFill>
                  <a:srgbClr val="000000"/>
                </a:solidFill>
                <a:latin typeface="Calibri"/>
              </a:defRPr>
            </a:pPr>
            <a:r>
              <a:t>Logical address = (1, 200)</a:t>
            </a:r>
          </a:p>
          <a:p>
            <a:pPr algn="l">
              <a:defRPr sz="2000">
                <a:solidFill>
                  <a:srgbClr val="000000"/>
                </a:solidFill>
                <a:latin typeface="Calibri"/>
              </a:defRPr>
            </a:pPr>
            <a:r>
              <a:t>Check if 200 &lt; 1000 → Valid</a:t>
            </a:r>
          </a:p>
          <a:p>
            <a:pPr algn="l">
              <a:defRPr sz="2000">
                <a:solidFill>
                  <a:srgbClr val="000000"/>
                </a:solidFill>
                <a:latin typeface="Calibri"/>
              </a:defRPr>
            </a:pPr>
            <a:r>
              <a:t>Physical address = Base + Offset = 4000 + 200 = 4200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Segmentation vs. Paging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defRPr sz="2000">
                <a:solidFill>
                  <a:srgbClr val="000000"/>
                </a:solidFill>
                <a:latin typeface="Calibri"/>
              </a:defRPr>
            </a:pPr>
            <a:r>
              <a:t>Feature Comparison:</a:t>
            </a:r>
          </a:p>
          <a:p>
            <a:pPr algn="l">
              <a:defRPr sz="2000">
                <a:solidFill>
                  <a:srgbClr val="000000"/>
                </a:solidFill>
                <a:latin typeface="Calibri"/>
              </a:defRPr>
            </a:pPr>
            <a:r>
              <a:t>• Unit Size → Paging: Fixed | Segmentation: Variable</a:t>
            </a:r>
          </a:p>
          <a:p>
            <a:pPr algn="l">
              <a:defRPr sz="2000">
                <a:solidFill>
                  <a:srgbClr val="000000"/>
                </a:solidFill>
                <a:latin typeface="Calibri"/>
              </a:defRPr>
            </a:pPr>
            <a:r>
              <a:t>• Fragmentation → Paging: Internal | Segmentation: External</a:t>
            </a:r>
          </a:p>
          <a:p>
            <a:pPr algn="l">
              <a:defRPr sz="2000">
                <a:solidFill>
                  <a:srgbClr val="000000"/>
                </a:solidFill>
                <a:latin typeface="Calibri"/>
              </a:defRPr>
            </a:pPr>
            <a:r>
              <a:t>• User View → Paging: Invisible | Segmentation: Visible</a:t>
            </a:r>
          </a:p>
          <a:p>
            <a:pPr algn="l">
              <a:defRPr sz="2000">
                <a:solidFill>
                  <a:srgbClr val="000000"/>
                </a:solidFill>
                <a:latin typeface="Calibri"/>
              </a:defRPr>
            </a:pPr>
            <a:r>
              <a:t>• Address → Paging: Page + Offset | Segmentation: Segment + Offset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Combined Segmentation and Paging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defRPr sz="2000">
                <a:solidFill>
                  <a:srgbClr val="000000"/>
                </a:solidFill>
                <a:latin typeface="Calibri"/>
              </a:defRPr>
            </a:pPr>
            <a:r>
              <a:t>Used in systems like x86 architecture.</a:t>
            </a:r>
          </a:p>
          <a:p>
            <a:pPr algn="l">
              <a:defRPr sz="2000">
                <a:solidFill>
                  <a:srgbClr val="000000"/>
                </a:solidFill>
                <a:latin typeface="Calibri"/>
              </a:defRPr>
            </a:pPr>
            <a:r>
              <a:t>Each segment has its own page table.</a:t>
            </a:r>
          </a:p>
          <a:p>
            <a:pPr algn="l">
              <a:defRPr sz="2000">
                <a:solidFill>
                  <a:srgbClr val="000000"/>
                </a:solidFill>
                <a:latin typeface="Calibri"/>
              </a:defRPr>
            </a:pPr>
            <a:r>
              <a:t>Logical Address = Segment + Page + Offset.</a:t>
            </a:r>
          </a:p>
          <a:p>
            <a:pPr algn="l">
              <a:defRPr sz="2000">
                <a:solidFill>
                  <a:srgbClr val="000000"/>
                </a:solidFill>
                <a:latin typeface="Calibri"/>
              </a:defRPr>
            </a:pPr>
            <a:r>
              <a:t>Provides benefits of both segmentation and paging.</a:t>
            </a:r>
          </a:p>
          <a:p>
            <a:pPr algn="l">
              <a:defRPr sz="2000">
                <a:solidFill>
                  <a:srgbClr val="000000"/>
                </a:solidFill>
                <a:latin typeface="Calibri"/>
              </a:defRPr>
            </a:pPr>
            <a:r>
              <a:t>Improves flexibility, protection, and memory use.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defRPr sz="2000">
                <a:solidFill>
                  <a:srgbClr val="000000"/>
                </a:solidFill>
                <a:latin typeface="Calibri"/>
              </a:defRPr>
            </a:pPr>
            <a:r>
              <a:t>Paging simplifies memory allocation and avoids external fragmentation.</a:t>
            </a:r>
          </a:p>
          <a:p>
            <a:pPr algn="l">
              <a:defRPr sz="2000">
                <a:solidFill>
                  <a:srgbClr val="000000"/>
                </a:solidFill>
                <a:latin typeface="Calibri"/>
              </a:defRPr>
            </a:pPr>
            <a:r>
              <a:t>Segmentation supports logical program structure and protection.</a:t>
            </a:r>
          </a:p>
          <a:p>
            <a:pPr algn="l">
              <a:defRPr sz="2000">
                <a:solidFill>
                  <a:srgbClr val="000000"/>
                </a:solidFill>
                <a:latin typeface="Calibri"/>
              </a:defRPr>
            </a:pPr>
            <a:r>
              <a:t>Combining both techniques offers better efficiency and control.</a:t>
            </a:r>
          </a:p>
          <a:p>
            <a:pPr algn="l">
              <a:defRPr sz="2000">
                <a:solidFill>
                  <a:srgbClr val="000000"/>
                </a:solidFill>
                <a:latin typeface="Calibri"/>
              </a:defRPr>
            </a:pPr>
            <a:r>
              <a:t>Both are crucial in modern memory management systems.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 /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defRPr sz="2000">
                <a:solidFill>
                  <a:srgbClr val="000000"/>
                </a:solidFill>
                <a:latin typeface="Calibri"/>
              </a:defRPr>
            </a:pPr>
            <a:r>
              <a:t>Questions?</a:t>
            </a:r>
          </a:p>
          <a:p>
            <a:pPr algn="l">
              <a:defRPr sz="2000">
                <a:solidFill>
                  <a:srgbClr val="000000"/>
                </a:solidFill>
                <a:latin typeface="Calibri"/>
              </a:defRPr>
            </a:pPr>
            <a:endParaRPr/>
          </a:p>
          <a:p>
            <a:pPr algn="l">
              <a:defRPr sz="2000">
                <a:solidFill>
                  <a:srgbClr val="000000"/>
                </a:solidFill>
                <a:latin typeface="Calibri"/>
              </a:defRPr>
            </a:pPr>
            <a:r>
              <a:t>References:</a:t>
            </a:r>
          </a:p>
          <a:p>
            <a:pPr algn="l">
              <a:defRPr sz="2000">
                <a:solidFill>
                  <a:srgbClr val="000000"/>
                </a:solidFill>
                <a:latin typeface="Calibri"/>
              </a:defRPr>
            </a:pPr>
            <a:r>
              <a:t>• Operating Systems: Three Easy Pieces</a:t>
            </a:r>
          </a:p>
          <a:p>
            <a:pPr algn="l">
              <a:defRPr sz="2000">
                <a:solidFill>
                  <a:srgbClr val="000000"/>
                </a:solidFill>
                <a:latin typeface="Calibri"/>
              </a:defRPr>
            </a:pPr>
            <a:r>
              <a:t>• Course Lecture Notes</a:t>
            </a:r>
          </a:p>
          <a:p>
            <a:pPr algn="l">
              <a:defRPr sz="2000">
                <a:solidFill>
                  <a:srgbClr val="000000"/>
                </a:solidFill>
                <a:latin typeface="Calibri"/>
              </a:defRPr>
            </a:pPr>
            <a:r>
              <a:t>• Author’s Custom Diagrams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403</Words>
  <Application>Microsoft Office PowerPoint</Application>
  <PresentationFormat>On-screen Show (4:3)</PresentationFormat>
  <Paragraphs>68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Segmentation and Paging in Memory Management</vt:lpstr>
      <vt:lpstr>Introduction to Memory Management</vt:lpstr>
      <vt:lpstr>Paging – Concept</vt:lpstr>
      <vt:lpstr>Paging – Address Translation Example</vt:lpstr>
      <vt:lpstr>Segmentation – Concept</vt:lpstr>
      <vt:lpstr>Segmentation – Address Translation Example</vt:lpstr>
      <vt:lpstr>Segmentation vs. Paging</vt:lpstr>
      <vt:lpstr>Combined Segmentation and Paging</vt:lpstr>
      <vt:lpstr>Summary</vt:lpstr>
      <vt:lpstr>Q&amp;A / 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Alok Tarini</cp:lastModifiedBy>
  <cp:revision>2</cp:revision>
  <dcterms:created xsi:type="dcterms:W3CDTF">2013-01-27T09:14:16Z</dcterms:created>
  <dcterms:modified xsi:type="dcterms:W3CDTF">2025-04-30T22:33:19Z</dcterms:modified>
  <cp:category/>
</cp:coreProperties>
</file>